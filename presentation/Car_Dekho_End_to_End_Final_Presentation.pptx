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40" r:id="rId10"/>
    <p:sldId id="341" r:id="rId11"/>
    <p:sldId id="342" r:id="rId12"/>
    <p:sldId id="343" r:id="rId13"/>
    <p:sldId id="344" r:id="rId14"/>
    <p:sldId id="345" r:id="rId15"/>
    <p:sldId id="346" r:id="rId16"/>
    <p:sldId id="347" r:id="rId17"/>
    <p:sldId id="348" r:id="rId18"/>
    <p:sldId id="349" r:id="rId19"/>
    <p:sldId id="350" r:id="rId20"/>
    <p:sldId id="351" r:id="rId21"/>
    <p:sldId id="352" r:id="rId22"/>
    <p:sldId id="35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57" d="100"/>
          <a:sy n="57" d="100"/>
        </p:scale>
        <p:origin x="78" y="117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38801" y="4141999"/>
            <a:ext cx="4074160" cy="861497"/>
          </a:xfrm>
        </p:spPr>
        <p:txBody>
          <a:bodyPr>
            <a:normAutofit fontScale="85000" lnSpcReduction="10000"/>
          </a:bodyPr>
          <a:lstStyle/>
          <a:p>
            <a:pPr algn="r">
              <a:defRPr sz="2400" b="1"/>
            </a:pPr>
            <a:r>
              <a:rPr lang="en-IN" dirty="0">
                <a:solidFill>
                  <a:schemeClr val="tx1"/>
                </a:solidFill>
              </a:rPr>
              <a:t>Durga Prasad</a:t>
            </a:r>
          </a:p>
          <a:p>
            <a:pPr algn="r">
              <a:defRPr sz="2400" b="1"/>
            </a:pPr>
            <a:r>
              <a:rPr lang="en-IN" sz="2400" dirty="0">
                <a:solidFill>
                  <a:schemeClr val="tx1"/>
                </a:solidFill>
              </a:rPr>
              <a:t>STU6a0332abbabea1778594475</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05933" y="2763552"/>
            <a:ext cx="10380134" cy="1378447"/>
          </a:xfrm>
        </p:spPr>
        <p:txBody>
          <a:bodyPr>
            <a:normAutofit/>
          </a:bodyPr>
          <a:lstStyle/>
          <a:p>
            <a:pPr>
              <a:defRPr sz="2400" b="1"/>
            </a:pPr>
            <a:r>
              <a:rPr sz="3500" dirty="0"/>
              <a:t>Car Market Trends Analysis with Car Dekho Data</a:t>
            </a:r>
            <a:endParaRPr lang="en-IN" sz="35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548640" y="2168864"/>
            <a:ext cx="7447044" cy="2308324"/>
          </a:xfrm>
          <a:prstGeom prst="rect">
            <a:avLst/>
          </a:prstGeom>
          <a:noFill/>
        </p:spPr>
        <p:txBody>
          <a:bodyPr wrap="square">
            <a:spAutoFit/>
          </a:bodyPr>
          <a:lstStyle/>
          <a:p>
            <a:r>
              <a:rPr lang="en-IN" dirty="0"/>
              <a:t>The used-car market has significant variation in resale prices based on factors such as </a:t>
            </a:r>
            <a:r>
              <a:rPr lang="en-IN" b="1" dirty="0"/>
              <a:t>vehicle age, present price, </a:t>
            </a:r>
            <a:r>
              <a:rPr lang="en-IN" b="1" dirty="0" err="1"/>
              <a:t>kilometers</a:t>
            </a:r>
            <a:r>
              <a:rPr lang="en-IN" b="1" dirty="0"/>
              <a:t> driven, fuel type, transmission, seller type, and previous ownership</a:t>
            </a:r>
            <a:r>
              <a:rPr lang="en-IN" dirty="0"/>
              <a:t>.</a:t>
            </a:r>
          </a:p>
          <a:p>
            <a:endParaRPr lang="en-IN" dirty="0"/>
          </a:p>
          <a:p>
            <a:r>
              <a:rPr lang="en-IN" dirty="0"/>
              <a:t>The objective of this project is to </a:t>
            </a:r>
            <a:r>
              <a:rPr lang="en-IN" b="1" dirty="0" err="1"/>
              <a:t>analyze</a:t>
            </a:r>
            <a:r>
              <a:rPr lang="en-IN" b="1" dirty="0"/>
              <a:t> the Car Dekho dataset to identify the key factors affecting car selling prices, understand resale-value and depreciation patterns, and generate meaningful insights that can support better pricing and purchasing decisions.</a:t>
            </a:r>
            <a:endParaRPr lang="en-IN"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34769" y="1845733"/>
            <a:ext cx="7670801" cy="4819227"/>
          </a:xfrm>
        </p:spPr>
        <p:txBody>
          <a:bodyPr>
            <a:noAutofit/>
          </a:bodyPr>
          <a:lstStyle/>
          <a:p>
            <a:r>
              <a:rPr lang="en-IN" sz="1600" dirty="0"/>
              <a:t>This project performs an end-to-end exploratory data analysis of Car Dekho used-car data. The analysis begins with understanding the dataset structure, variables, data types, missing values, duplicates, and data quality.</a:t>
            </a:r>
            <a:br>
              <a:rPr lang="en-IN" sz="1600" dirty="0"/>
            </a:br>
            <a:br>
              <a:rPr lang="en-IN" sz="1600" dirty="0"/>
            </a:br>
            <a:r>
              <a:rPr lang="en-IN" sz="1600" dirty="0"/>
              <a:t>The data is then cleaned and validated, followed by feature engineering such as car age, depreciation amount, resale retention percentage, price gap, age bands, and mileage bands. Various statistical analyses and visualizations are performed to understand relationships between selling price and vehicle characteristics.</a:t>
            </a:r>
            <a:br>
              <a:rPr lang="en-IN" sz="1600" dirty="0"/>
            </a:br>
            <a:br>
              <a:rPr lang="en-IN" sz="1600" dirty="0"/>
            </a:br>
            <a:r>
              <a:rPr lang="en-IN" sz="1600" dirty="0"/>
              <a:t>The project </a:t>
            </a:r>
            <a:r>
              <a:rPr lang="en-IN" sz="1600" dirty="0" err="1"/>
              <a:t>analyzes</a:t>
            </a:r>
            <a:r>
              <a:rPr lang="en-IN" sz="1600" dirty="0"/>
              <a:t> fuel type, seller type, transmission, ownership, vehicle age, </a:t>
            </a:r>
            <a:r>
              <a:rPr lang="en-IN" sz="1600" dirty="0" err="1"/>
              <a:t>kilometers</a:t>
            </a:r>
            <a:r>
              <a:rPr lang="en-IN" sz="1600" dirty="0"/>
              <a:t> driven, present price, and individual car models to identify pricing patterns. Correlation and outlier analysis are also performed to understand the major numerical drivers of selling price.</a:t>
            </a:r>
            <a:br>
              <a:rPr lang="en-IN" sz="1600" dirty="0"/>
            </a:br>
            <a:br>
              <a:rPr lang="en-IN" sz="1600" dirty="0"/>
            </a:br>
            <a:r>
              <a:rPr lang="en-IN" sz="1600" dirty="0"/>
              <a:t>Finally, the analysis converts these findings into business insights and recommendations for used-car buyers, sellers, dealers, and automotive analysts.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BCD9B1C7-6C3C-63B6-FECD-99EA0B2C9B7B}"/>
              </a:ext>
            </a:extLst>
          </p:cNvPr>
          <p:cNvSpPr txBox="1"/>
          <p:nvPr/>
        </p:nvSpPr>
        <p:spPr>
          <a:xfrm>
            <a:off x="675957" y="779931"/>
            <a:ext cx="7028710" cy="830997"/>
          </a:xfrm>
          <a:prstGeom prst="rect">
            <a:avLst/>
          </a:prstGeom>
          <a:noFill/>
        </p:spPr>
        <p:txBody>
          <a:bodyPr wrap="square">
            <a:spAutoFit/>
          </a:bodyPr>
          <a:lstStyle/>
          <a:p>
            <a:r>
              <a:rPr lang="en-GB" sz="4800" dirty="0"/>
              <a:t>Project Description</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100667" y="2150533"/>
            <a:ext cx="7525173" cy="2523067"/>
          </a:xfrm>
        </p:spPr>
        <p:txBody>
          <a:bodyPr>
            <a:noAutofit/>
          </a:bodyPr>
          <a:lstStyle/>
          <a:p>
            <a:pPr>
              <a:spcAft>
                <a:spcPts val="700"/>
              </a:spcAft>
              <a:defRPr sz="2000"/>
            </a:pPr>
            <a:r>
              <a:rPr lang="en-US" sz="1600" dirty="0"/>
              <a:t>Used-car buyers – compare asking prices against vehicle characteristics.</a:t>
            </a:r>
          </a:p>
          <a:p>
            <a:pPr>
              <a:spcAft>
                <a:spcPts val="700"/>
              </a:spcAft>
              <a:defRPr sz="2000"/>
            </a:pPr>
            <a:r>
              <a:rPr lang="en-US" sz="1600" dirty="0"/>
              <a:t>Used-car sellers and dealers – benchmark competitive resale pricing.</a:t>
            </a:r>
          </a:p>
          <a:p>
            <a:pPr>
              <a:spcAft>
                <a:spcPts val="700"/>
              </a:spcAft>
              <a:defRPr sz="2000"/>
            </a:pPr>
            <a:r>
              <a:rPr lang="en-US" sz="1600" dirty="0"/>
              <a:t>Automotive analysts – understand market and vehicle-price patterns.</a:t>
            </a:r>
          </a:p>
          <a:p>
            <a:pPr>
              <a:spcAft>
                <a:spcPts val="700"/>
              </a:spcAft>
              <a:defRPr sz="2000"/>
            </a:pPr>
            <a:r>
              <a:rPr lang="en-US" sz="1600" dirty="0"/>
              <a:t>Business teams – support pricing, inventory and customer decisions.</a:t>
            </a:r>
          </a:p>
          <a:p>
            <a:pPr marL="0" indent="0" algn="just">
              <a:lnSpc>
                <a:spcPct val="150000"/>
              </a:lnSpc>
              <a:buNone/>
            </a:pPr>
            <a:endParaRPr lang="en-IN" sz="1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100667" y="775017"/>
            <a:ext cx="7389459"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02080" y="1432560"/>
            <a:ext cx="8016240" cy="3538266"/>
          </a:xfrm>
        </p:spPr>
        <p:txBody>
          <a:bodyPr/>
          <a:lstStyle/>
          <a:p>
            <a:pPr>
              <a:spcAft>
                <a:spcPts val="700"/>
              </a:spcAft>
              <a:defRPr sz="2000"/>
            </a:pPr>
            <a:r>
              <a:rPr lang="en-IN" sz="1600" dirty="0"/>
              <a:t>Python</a:t>
            </a:r>
          </a:p>
          <a:p>
            <a:pPr>
              <a:spcAft>
                <a:spcPts val="700"/>
              </a:spcAft>
              <a:defRPr sz="2000"/>
            </a:pPr>
            <a:r>
              <a:rPr lang="en-IN" sz="1600" dirty="0"/>
              <a:t>Pandas – data loading, cleaning and aggregation</a:t>
            </a:r>
          </a:p>
          <a:p>
            <a:pPr>
              <a:spcAft>
                <a:spcPts val="700"/>
              </a:spcAft>
              <a:defRPr sz="2000"/>
            </a:pPr>
            <a:r>
              <a:rPr lang="en-IN" sz="1600" dirty="0"/>
              <a:t>NumPy – numerical calculations and feature engineering</a:t>
            </a:r>
          </a:p>
          <a:p>
            <a:pPr>
              <a:spcAft>
                <a:spcPts val="700"/>
              </a:spcAft>
              <a:defRPr sz="2000"/>
            </a:pPr>
            <a:r>
              <a:rPr lang="en-IN" sz="1600" dirty="0"/>
              <a:t>Matplotlib &amp; Seaborn – data visualization</a:t>
            </a:r>
          </a:p>
          <a:p>
            <a:pPr>
              <a:spcAft>
                <a:spcPts val="700"/>
              </a:spcAft>
              <a:defRPr sz="2000"/>
            </a:pPr>
            <a:r>
              <a:rPr lang="en-IN" sz="1600" dirty="0"/>
              <a:t>Jupyter Notebook – end-to-end analysis workflow</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520466" y="237550"/>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Executive Summary</a:t>
            </a:r>
          </a:p>
        </p:txBody>
      </p:sp>
      <p:sp>
        <p:nvSpPr>
          <p:cNvPr id="3" name="TextBox 2"/>
          <p:cNvSpPr txBox="1"/>
          <p:nvPr/>
        </p:nvSpPr>
        <p:spPr>
          <a:xfrm>
            <a:off x="621792" y="932688"/>
            <a:ext cx="10789920" cy="365760"/>
          </a:xfrm>
          <a:prstGeom prst="rect">
            <a:avLst/>
          </a:prstGeom>
          <a:noFill/>
        </p:spPr>
        <p:txBody>
          <a:bodyPr wrap="none">
            <a:spAutoFit/>
          </a:bodyPr>
          <a:lstStyle/>
          <a:p>
            <a:pPr>
              <a:defRPr sz="1300"/>
            </a:pPr>
            <a:r>
              <a:t>Key findings from the complete analysis</a:t>
            </a:r>
          </a:p>
        </p:txBody>
      </p:sp>
      <p:sp>
        <p:nvSpPr>
          <p:cNvPr id="4" name="Rounded Rectangle 3"/>
          <p:cNvSpPr/>
          <p:nvPr/>
        </p:nvSpPr>
        <p:spPr>
          <a:xfrm>
            <a:off x="640080" y="1325880"/>
            <a:ext cx="2011680" cy="11887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defRPr sz="2300" b="1"/>
            </a:pPr>
            <a:r>
              <a:t>299</a:t>
            </a:r>
          </a:p>
          <a:p>
            <a:pPr algn="ctr">
              <a:defRPr sz="1100"/>
            </a:pPr>
            <a:r>
              <a:t>Vehicle listings</a:t>
            </a:r>
          </a:p>
        </p:txBody>
      </p:sp>
      <p:sp>
        <p:nvSpPr>
          <p:cNvPr id="5" name="Rounded Rectangle 4"/>
          <p:cNvSpPr/>
          <p:nvPr/>
        </p:nvSpPr>
        <p:spPr>
          <a:xfrm>
            <a:off x="2880360" y="1325880"/>
            <a:ext cx="2011680" cy="11887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defRPr sz="2300" b="1"/>
            </a:pPr>
            <a:r>
              <a:t>9</a:t>
            </a:r>
          </a:p>
          <a:p>
            <a:pPr algn="ctr">
              <a:defRPr sz="1100"/>
            </a:pPr>
            <a:r>
              <a:t>Variables</a:t>
            </a:r>
          </a:p>
        </p:txBody>
      </p:sp>
      <p:sp>
        <p:nvSpPr>
          <p:cNvPr id="6" name="Rounded Rectangle 5"/>
          <p:cNvSpPr/>
          <p:nvPr/>
        </p:nvSpPr>
        <p:spPr>
          <a:xfrm>
            <a:off x="5120640" y="1325880"/>
            <a:ext cx="2011680" cy="11887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defRPr sz="2300" b="1"/>
            </a:pPr>
            <a:r>
              <a:t>₹4.59L</a:t>
            </a:r>
          </a:p>
          <a:p>
            <a:pPr algn="ctr">
              <a:defRPr sz="1100"/>
            </a:pPr>
            <a:r>
              <a:t>Avg. selling price</a:t>
            </a:r>
          </a:p>
        </p:txBody>
      </p:sp>
      <p:sp>
        <p:nvSpPr>
          <p:cNvPr id="7" name="Rounded Rectangle 6"/>
          <p:cNvSpPr/>
          <p:nvPr/>
        </p:nvSpPr>
        <p:spPr>
          <a:xfrm>
            <a:off x="7360920" y="1325880"/>
            <a:ext cx="2011680" cy="11887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defRPr sz="2300" b="1"/>
            </a:pPr>
            <a:r>
              <a:t>₹7.54L</a:t>
            </a:r>
          </a:p>
          <a:p>
            <a:pPr algn="ctr">
              <a:defRPr sz="1100"/>
            </a:pPr>
            <a:r>
              <a:t>Avg. present price</a:t>
            </a:r>
          </a:p>
        </p:txBody>
      </p:sp>
      <p:sp>
        <p:nvSpPr>
          <p:cNvPr id="8" name="Rounded Rectangle 7"/>
          <p:cNvSpPr/>
          <p:nvPr/>
        </p:nvSpPr>
        <p:spPr>
          <a:xfrm>
            <a:off x="9601200" y="1325880"/>
            <a:ext cx="1828800" cy="11887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defRPr sz="2300" b="1"/>
            </a:pPr>
            <a:r>
              <a:t>36.9K</a:t>
            </a:r>
          </a:p>
          <a:p>
            <a:pPr algn="ctr">
              <a:defRPr sz="1100"/>
            </a:pPr>
            <a:r>
              <a:t>Avg. km driven</a:t>
            </a:r>
          </a:p>
        </p:txBody>
      </p:sp>
      <p:sp>
        <p:nvSpPr>
          <p:cNvPr id="9" name="TextBox 8"/>
          <p:cNvSpPr txBox="1"/>
          <p:nvPr/>
        </p:nvSpPr>
        <p:spPr>
          <a:xfrm>
            <a:off x="822960" y="2926080"/>
            <a:ext cx="10149840" cy="2743200"/>
          </a:xfrm>
          <a:prstGeom prst="rect">
            <a:avLst/>
          </a:prstGeom>
          <a:noFill/>
        </p:spPr>
        <p:txBody>
          <a:bodyPr wrap="square">
            <a:spAutoFit/>
          </a:bodyPr>
          <a:lstStyle/>
          <a:p>
            <a:pPr>
              <a:spcAft>
                <a:spcPts val="700"/>
              </a:spcAft>
              <a:defRPr sz="1800"/>
            </a:pPr>
            <a:r>
              <a:t>• Data quality is strong: no missing values and no exact duplicate rows.</a:t>
            </a:r>
          </a:p>
          <a:p>
            <a:pPr>
              <a:spcAft>
                <a:spcPts val="700"/>
              </a:spcAft>
              <a:defRPr sz="1800"/>
            </a:pPr>
            <a:r>
              <a:t>• Present Price has the strongest positive correlation with Selling Price (r ≈ 0.88).</a:t>
            </a:r>
          </a:p>
          <a:p>
            <a:pPr>
              <a:spcAft>
                <a:spcPts val="700"/>
              </a:spcAft>
              <a:defRPr sz="1800"/>
            </a:pPr>
            <a:r>
              <a:t>• Vehicle age is negatively associated with resale price (r ≈ −0.23).</a:t>
            </a:r>
          </a:p>
          <a:p>
            <a:pPr>
              <a:spcAft>
                <a:spcPts val="700"/>
              </a:spcAft>
              <a:defRPr sz="1800"/>
            </a:pPr>
            <a:r>
              <a:t>• Higher mileage is weakly negatively associated with price (r ≈ −0.09).</a:t>
            </a:r>
          </a:p>
          <a:p>
            <a:pPr>
              <a:spcAft>
                <a:spcPts val="700"/>
              </a:spcAft>
              <a:defRPr sz="1800"/>
            </a:pPr>
            <a:r>
              <a:t>• Fuel type, seller type and transmission show clear pricing differences.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Data Exploration &amp; Quality</a:t>
            </a:r>
          </a:p>
        </p:txBody>
      </p:sp>
      <p:sp>
        <p:nvSpPr>
          <p:cNvPr id="3" name="TextBox 2"/>
          <p:cNvSpPr txBox="1"/>
          <p:nvPr/>
        </p:nvSpPr>
        <p:spPr>
          <a:xfrm>
            <a:off x="621792" y="932688"/>
            <a:ext cx="10789920" cy="365760"/>
          </a:xfrm>
          <a:prstGeom prst="rect">
            <a:avLst/>
          </a:prstGeom>
          <a:noFill/>
        </p:spPr>
        <p:txBody>
          <a:bodyPr wrap="none">
            <a:spAutoFit/>
          </a:bodyPr>
          <a:lstStyle/>
          <a:p>
            <a:pPr>
              <a:defRPr sz="1300"/>
            </a:pPr>
            <a:r>
              <a:t>The analysis starts with structure, completeness and validity checks</a:t>
            </a:r>
          </a:p>
        </p:txBody>
      </p:sp>
      <p:sp>
        <p:nvSpPr>
          <p:cNvPr id="4" name="TextBox 3"/>
          <p:cNvSpPr txBox="1"/>
          <p:nvPr/>
        </p:nvSpPr>
        <p:spPr>
          <a:xfrm>
            <a:off x="731520" y="1417320"/>
            <a:ext cx="10515600" cy="4480560"/>
          </a:xfrm>
          <a:prstGeom prst="rect">
            <a:avLst/>
          </a:prstGeom>
          <a:noFill/>
        </p:spPr>
        <p:txBody>
          <a:bodyPr wrap="square">
            <a:spAutoFit/>
          </a:bodyPr>
          <a:lstStyle/>
          <a:p>
            <a:pPr>
              <a:spcAft>
                <a:spcPts val="700"/>
              </a:spcAft>
              <a:defRPr sz="1800"/>
            </a:pPr>
            <a:r>
              <a:t>• Dataset size: 301 rows × 9 columns.</a:t>
            </a:r>
          </a:p>
          <a:p>
            <a:pPr>
              <a:spcAft>
                <a:spcPts val="700"/>
              </a:spcAft>
              <a:defRPr sz="1800"/>
            </a:pPr>
            <a:r>
              <a:t>• Car models: 98 unique names; model years: 2003–2018.</a:t>
            </a:r>
          </a:p>
          <a:p>
            <a:pPr>
              <a:spcAft>
                <a:spcPts val="700"/>
              </a:spcAft>
              <a:defRPr sz="1800"/>
            </a:pPr>
            <a:r>
              <a:t>• No missing values were detected across any column.</a:t>
            </a:r>
          </a:p>
          <a:p>
            <a:pPr>
              <a:spcAft>
                <a:spcPts val="700"/>
              </a:spcAft>
              <a:defRPr sz="1800"/>
            </a:pPr>
            <a:r>
              <a:t>• Exact duplicate rows detected: 2.</a:t>
            </a:r>
          </a:p>
          <a:p>
            <a:pPr>
              <a:spcAft>
                <a:spcPts val="700"/>
              </a:spcAft>
              <a:defRPr sz="1800"/>
            </a:pPr>
            <a:r>
              <a:t>• Numeric variables contain no negative values.</a:t>
            </a:r>
          </a:p>
          <a:p>
            <a:pPr>
              <a:spcAft>
                <a:spcPts val="700"/>
              </a:spcAft>
              <a:defRPr sz="1800"/>
            </a:pPr>
            <a:r>
              <a:t>• Categorical fields have consistent business categories: 3 fuel types, 2 seller types and 2 transmission types.</a:t>
            </a:r>
          </a:p>
          <a:p>
            <a:pPr>
              <a:spcAft>
                <a:spcPts val="700"/>
              </a:spcAft>
              <a:defRPr sz="1800"/>
            </a:pPr>
            <a:r>
              <a:t>• Cleaning therefore focuses on validation, text standardization, duplicate removal and derived analytical 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Fuel Mix</a:t>
            </a:r>
          </a:p>
        </p:txBody>
      </p:sp>
      <p:pic>
        <p:nvPicPr>
          <p:cNvPr id="3" name="Picture 2" descr="01_fuel_distribution.png"/>
          <p:cNvPicPr>
            <a:picLocks noChangeAspect="1"/>
          </p:cNvPicPr>
          <p:nvPr/>
        </p:nvPicPr>
        <p:blipFill>
          <a:blip r:embed="rId2"/>
          <a:stretch>
            <a:fillRect/>
          </a:stretch>
        </p:blipFill>
        <p:spPr>
          <a:xfrm>
            <a:off x="594360" y="1234440"/>
            <a:ext cx="6629400" cy="3747052"/>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Petrol is the dominant fuel category with 239 listings.</a:t>
            </a:r>
          </a:p>
          <a:p>
            <a:pPr>
              <a:spcAft>
                <a:spcPts val="700"/>
              </a:spcAft>
              <a:defRPr sz="1500"/>
            </a:pPr>
            <a:r>
              <a:t>• Diesel accounts for 58 listings.</a:t>
            </a:r>
          </a:p>
          <a:p>
            <a:pPr>
              <a:spcAft>
                <a:spcPts val="700"/>
              </a:spcAft>
              <a:defRPr sz="1500"/>
            </a:pPr>
            <a:r>
              <a:t>• CNG has very limited representation, so its average-price comparison should be interpreted cautiously.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Average Selling Price by Fuel</a:t>
            </a:r>
          </a:p>
        </p:txBody>
      </p:sp>
      <p:pic>
        <p:nvPicPr>
          <p:cNvPr id="3" name="Picture 2" descr="02_price_by_fuel.png"/>
          <p:cNvPicPr>
            <a:picLocks noChangeAspect="1"/>
          </p:cNvPicPr>
          <p:nvPr/>
        </p:nvPicPr>
        <p:blipFill>
          <a:blip r:embed="rId2"/>
          <a:stretch>
            <a:fillRect/>
          </a:stretch>
        </p:blipFill>
        <p:spPr>
          <a:xfrm>
            <a:off x="594360" y="1234440"/>
            <a:ext cx="6629400" cy="3747052"/>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Diesel has the highest average selling price at ₹10.10 lakh.</a:t>
            </a:r>
          </a:p>
          <a:p>
            <a:pPr>
              <a:spcAft>
                <a:spcPts val="700"/>
              </a:spcAft>
              <a:defRPr sz="1500"/>
            </a:pPr>
            <a:r>
              <a:t>• Petrol forms the largest volume segment but has a lower average selling price than diesel.</a:t>
            </a:r>
          </a:p>
          <a:p>
            <a:pPr>
              <a:spcAft>
                <a:spcPts val="700"/>
              </a:spcAft>
              <a:defRPr sz="1500"/>
            </a:pPr>
            <a:r>
              <a:t>• Fuel type is useful for segmentation, but price differences also reflect vehicle mix and original price.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Vehicle Age and Selling Price</a:t>
            </a:r>
          </a:p>
        </p:txBody>
      </p:sp>
      <p:pic>
        <p:nvPicPr>
          <p:cNvPr id="3" name="Picture 2" descr="03_age_vs_price.png"/>
          <p:cNvPicPr>
            <a:picLocks noChangeAspect="1"/>
          </p:cNvPicPr>
          <p:nvPr/>
        </p:nvPicPr>
        <p:blipFill>
          <a:blip r:embed="rId2"/>
          <a:stretch>
            <a:fillRect/>
          </a:stretch>
        </p:blipFill>
        <p:spPr>
          <a:xfrm>
            <a:off x="594360" y="1234440"/>
            <a:ext cx="6629400" cy="3939209"/>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Car age correlation with selling price: -0.23.</a:t>
            </a:r>
          </a:p>
          <a:p>
            <a:pPr>
              <a:spcAft>
                <a:spcPts val="700"/>
              </a:spcAft>
              <a:defRPr sz="1500"/>
            </a:pPr>
            <a:r>
              <a:t>• The fitted trend slopes downward, indicating depreciation with age.</a:t>
            </a:r>
          </a:p>
          <a:p>
            <a:pPr>
              <a:spcAft>
                <a:spcPts val="700"/>
              </a:spcAft>
              <a:defRPr sz="1500"/>
            </a:pPr>
            <a:r>
              <a:t>• Newer cars generally command higher resale prices, although individual models vary considerably.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Present Price vs Selling Price</a:t>
            </a:r>
          </a:p>
        </p:txBody>
      </p:sp>
      <p:pic>
        <p:nvPicPr>
          <p:cNvPr id="3" name="Picture 2" descr="04_present_vs_selling.png"/>
          <p:cNvPicPr>
            <a:picLocks noChangeAspect="1"/>
          </p:cNvPicPr>
          <p:nvPr/>
        </p:nvPicPr>
        <p:blipFill>
          <a:blip r:embed="rId2"/>
          <a:stretch>
            <a:fillRect/>
          </a:stretch>
        </p:blipFill>
        <p:spPr>
          <a:xfrm>
            <a:off x="594360" y="1234440"/>
            <a:ext cx="6629400" cy="3939209"/>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Correlation: 0.88.</a:t>
            </a:r>
          </a:p>
          <a:p>
            <a:pPr>
              <a:spcAft>
                <a:spcPts val="700"/>
              </a:spcAft>
              <a:defRPr sz="1500"/>
            </a:pPr>
            <a:r>
              <a:t>• This is the strongest direct numerical relationship with selling price in the analysis.</a:t>
            </a:r>
          </a:p>
          <a:p>
            <a:pPr>
              <a:spcAft>
                <a:spcPts val="700"/>
              </a:spcAft>
              <a:defRPr sz="1500"/>
            </a:pPr>
            <a:r>
              <a:t>• Higher-value vehicles generally have higher resale prices.</a:t>
            </a:r>
          </a:p>
          <a:p>
            <a:pPr>
              <a:spcAft>
                <a:spcPts val="700"/>
              </a:spcAft>
              <a:defRPr sz="1500"/>
            </a:pPr>
            <a:r>
              <a:t>• Present Price should be a core benchmark when estimating resale 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Kilometers Driven vs Selling Price</a:t>
            </a:r>
          </a:p>
        </p:txBody>
      </p:sp>
      <p:pic>
        <p:nvPicPr>
          <p:cNvPr id="3" name="Picture 2" descr="05_kms_vs_price.png"/>
          <p:cNvPicPr>
            <a:picLocks noChangeAspect="1"/>
          </p:cNvPicPr>
          <p:nvPr/>
        </p:nvPicPr>
        <p:blipFill>
          <a:blip r:embed="rId2"/>
          <a:stretch>
            <a:fillRect/>
          </a:stretch>
        </p:blipFill>
        <p:spPr>
          <a:xfrm>
            <a:off x="594360" y="1234440"/>
            <a:ext cx="6629400" cy="3951936"/>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Correlation: 0.03.</a:t>
            </a:r>
          </a:p>
          <a:p>
            <a:pPr>
              <a:spcAft>
                <a:spcPts val="700"/>
              </a:spcAft>
              <a:defRPr sz="1500"/>
            </a:pPr>
            <a:r>
              <a:t>• The relationship is weakly negative overall.</a:t>
            </a:r>
          </a:p>
          <a:p>
            <a:pPr>
              <a:spcAft>
                <a:spcPts val="700"/>
              </a:spcAft>
              <a:defRPr sz="1500"/>
            </a:pPr>
            <a:r>
              <a:t>• Mileage matters, but it is not sufficient on its own to explain resale price.</a:t>
            </a:r>
          </a:p>
          <a:p>
            <a:pPr>
              <a:spcAft>
                <a:spcPts val="700"/>
              </a:spcAft>
              <a:defRPr sz="1500"/>
            </a:pPr>
            <a:r>
              <a:t>• Model, original price, age and configuration need to be considered together.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Fuel, Seller &amp; Transmission</a:t>
            </a:r>
          </a:p>
        </p:txBody>
      </p:sp>
      <p:pic>
        <p:nvPicPr>
          <p:cNvPr id="3" name="Picture 2" descr="06_category_comparison.png"/>
          <p:cNvPicPr>
            <a:picLocks noChangeAspect="1"/>
          </p:cNvPicPr>
          <p:nvPr/>
        </p:nvPicPr>
        <p:blipFill>
          <a:blip r:embed="rId2"/>
          <a:stretch>
            <a:fillRect/>
          </a:stretch>
        </p:blipFill>
        <p:spPr>
          <a:xfrm>
            <a:off x="594360" y="1234440"/>
            <a:ext cx="6629400" cy="2005101"/>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Diesel listings show a higher price distribution than petrol listings.</a:t>
            </a:r>
          </a:p>
          <a:p>
            <a:pPr>
              <a:spcAft>
                <a:spcPts val="700"/>
              </a:spcAft>
              <a:defRPr sz="1500"/>
            </a:pPr>
            <a:r>
              <a:t>• Dealer listings have a substantially higher price distribution than individual listings.</a:t>
            </a:r>
          </a:p>
          <a:p>
            <a:pPr>
              <a:spcAft>
                <a:spcPts val="700"/>
              </a:spcAft>
              <a:defRPr sz="1500"/>
            </a:pPr>
            <a:r>
              <a:t>• Automatic vehicles have a higher price distribution than manual vehicles.</a:t>
            </a:r>
          </a:p>
          <a:p>
            <a:pPr>
              <a:spcAft>
                <a:spcPts val="700"/>
              </a:spcAft>
              <a:defRPr sz="1500"/>
            </a:pPr>
            <a:r>
              <a:t>• These comparisons describe the dataset; they should not be interpreted as causal effects.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Price by Vehicle Age Band</a:t>
            </a:r>
          </a:p>
        </p:txBody>
      </p:sp>
      <p:pic>
        <p:nvPicPr>
          <p:cNvPr id="3" name="Picture 2" descr="07_age_band_price.png"/>
          <p:cNvPicPr>
            <a:picLocks noChangeAspect="1"/>
          </p:cNvPicPr>
          <p:nvPr/>
        </p:nvPicPr>
        <p:blipFill>
          <a:blip r:embed="rId2"/>
          <a:stretch>
            <a:fillRect/>
          </a:stretch>
        </p:blipFill>
        <p:spPr>
          <a:xfrm>
            <a:off x="594360" y="1234440"/>
            <a:ext cx="6629400" cy="3747052"/>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Average resale price declines as vehicles move into older age bands.</a:t>
            </a:r>
          </a:p>
          <a:p>
            <a:pPr>
              <a:spcAft>
                <a:spcPts val="700"/>
              </a:spcAft>
              <a:defRPr sz="1500"/>
            </a:pPr>
            <a:r>
              <a:t>• The newest age bands have the highest average selling prices.</a:t>
            </a:r>
          </a:p>
          <a:p>
            <a:pPr>
              <a:spcAft>
                <a:spcPts val="700"/>
              </a:spcAft>
              <a:defRPr sz="1500"/>
            </a:pPr>
            <a:r>
              <a:t>• Older vehicles have a much wider range of resale outcomes, reflecting model-level differences.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Resale Value Retention</a:t>
            </a:r>
          </a:p>
        </p:txBody>
      </p:sp>
      <p:pic>
        <p:nvPicPr>
          <p:cNvPr id="3" name="Picture 2" descr="08_retention.png"/>
          <p:cNvPicPr>
            <a:picLocks noChangeAspect="1"/>
          </p:cNvPicPr>
          <p:nvPr/>
        </p:nvPicPr>
        <p:blipFill>
          <a:blip r:embed="rId2"/>
          <a:stretch>
            <a:fillRect/>
          </a:stretch>
        </p:blipFill>
        <p:spPr>
          <a:xfrm>
            <a:off x="594360" y="1234440"/>
            <a:ext cx="6629400" cy="3939209"/>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Resale retention falls strongly as vehicle age increases.</a:t>
            </a:r>
          </a:p>
          <a:p>
            <a:pPr>
              <a:spcAft>
                <a:spcPts val="700"/>
              </a:spcAft>
              <a:defRPr sz="1500"/>
            </a:pPr>
            <a:r>
              <a:t>• Younger vehicles tend to retain a larger share of their present/original price.</a:t>
            </a:r>
          </a:p>
          <a:p>
            <a:pPr>
              <a:spcAft>
                <a:spcPts val="700"/>
              </a:spcAft>
              <a:defRPr sz="1500"/>
            </a:pPr>
            <a:r>
              <a:t>• This metric provides a more intuitive depreciation view than selling price alone.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Correlation &amp; Key Drivers</a:t>
            </a:r>
          </a:p>
        </p:txBody>
      </p:sp>
      <p:pic>
        <p:nvPicPr>
          <p:cNvPr id="3" name="Picture 2" descr="09_correlation.png"/>
          <p:cNvPicPr>
            <a:picLocks noChangeAspect="1"/>
          </p:cNvPicPr>
          <p:nvPr/>
        </p:nvPicPr>
        <p:blipFill>
          <a:blip r:embed="rId2"/>
          <a:stretch>
            <a:fillRect/>
          </a:stretch>
        </p:blipFill>
        <p:spPr>
          <a:xfrm>
            <a:off x="594360" y="1234440"/>
            <a:ext cx="6629400" cy="4771651"/>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Present Price: strongest positive correlation with Selling Price (≈ 0.88).</a:t>
            </a:r>
          </a:p>
          <a:p>
            <a:pPr>
              <a:spcAft>
                <a:spcPts val="700"/>
              </a:spcAft>
              <a:defRPr sz="1500"/>
            </a:pPr>
            <a:r>
              <a:t>• Car Age: negative relationship with Selling Price (≈ −0.23).</a:t>
            </a:r>
          </a:p>
          <a:p>
            <a:pPr>
              <a:spcAft>
                <a:spcPts val="700"/>
              </a:spcAft>
              <a:defRPr sz="1500"/>
            </a:pPr>
            <a:r>
              <a:t>• Kms Driven: weak negative relationship (≈ −0.09).</a:t>
            </a:r>
          </a:p>
          <a:p>
            <a:pPr>
              <a:spcAft>
                <a:spcPts val="700"/>
              </a:spcAft>
              <a:defRPr sz="1500"/>
            </a:pPr>
            <a:r>
              <a:t>• Year is positively related to selling price (≈ 0.23), consistent with newer vehicles retaining more value.</a:t>
            </a:r>
          </a:p>
          <a:p>
            <a:pPr>
              <a:spcAft>
                <a:spcPts val="700"/>
              </a:spcAft>
              <a:defRPr sz="1500"/>
            </a:pPr>
            <a:r>
              <a:t>• Correlation indicates association, not causation.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Top Models by Average Selling Price</a:t>
            </a:r>
          </a:p>
        </p:txBody>
      </p:sp>
      <p:pic>
        <p:nvPicPr>
          <p:cNvPr id="3" name="Picture 2" descr="10_top_models.png"/>
          <p:cNvPicPr>
            <a:picLocks noChangeAspect="1"/>
          </p:cNvPicPr>
          <p:nvPr/>
        </p:nvPicPr>
        <p:blipFill>
          <a:blip r:embed="rId2"/>
          <a:stretch>
            <a:fillRect/>
          </a:stretch>
        </p:blipFill>
        <p:spPr>
          <a:xfrm>
            <a:off x="594360" y="1234440"/>
            <a:ext cx="6629400" cy="3692324"/>
          </a:xfrm>
          <a:prstGeom prst="rect">
            <a:avLst/>
          </a:prstGeom>
        </p:spPr>
      </p:pic>
      <p:sp>
        <p:nvSpPr>
          <p:cNvPr id="4" name="TextBox 3"/>
          <p:cNvSpPr txBox="1"/>
          <p:nvPr/>
        </p:nvSpPr>
        <p:spPr>
          <a:xfrm>
            <a:off x="7452360" y="1417320"/>
            <a:ext cx="4069080" cy="4572000"/>
          </a:xfrm>
          <a:prstGeom prst="rect">
            <a:avLst/>
          </a:prstGeom>
          <a:noFill/>
        </p:spPr>
        <p:txBody>
          <a:bodyPr wrap="square">
            <a:spAutoFit/>
          </a:bodyPr>
          <a:lstStyle/>
          <a:p>
            <a:pPr>
              <a:spcAft>
                <a:spcPts val="700"/>
              </a:spcAft>
              <a:defRPr sz="1500"/>
            </a:pPr>
            <a:r>
              <a:t>• The top model comparison is restricted to models with at least 3 listings for greater stability.</a:t>
            </a:r>
          </a:p>
          <a:p>
            <a:pPr>
              <a:spcAft>
                <a:spcPts val="700"/>
              </a:spcAft>
              <a:defRPr sz="1500"/>
            </a:pPr>
            <a:r>
              <a:t>• Fortuner ranks among the highest-priced frequently listed models.</a:t>
            </a:r>
          </a:p>
          <a:p>
            <a:pPr>
              <a:spcAft>
                <a:spcPts val="700"/>
              </a:spcAft>
              <a:defRPr sz="1500"/>
            </a:pPr>
            <a:r>
              <a:t>• Model-level pricing varies substantially, so generic segment averages can hide important differences.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Outlier Investigation</a:t>
            </a:r>
          </a:p>
        </p:txBody>
      </p:sp>
      <p:sp>
        <p:nvSpPr>
          <p:cNvPr id="3" name="TextBox 2"/>
          <p:cNvSpPr txBox="1"/>
          <p:nvPr/>
        </p:nvSpPr>
        <p:spPr>
          <a:xfrm>
            <a:off x="822960" y="1417320"/>
            <a:ext cx="10332720" cy="4389120"/>
          </a:xfrm>
          <a:prstGeom prst="rect">
            <a:avLst/>
          </a:prstGeom>
          <a:noFill/>
        </p:spPr>
        <p:txBody>
          <a:bodyPr wrap="square">
            <a:spAutoFit/>
          </a:bodyPr>
          <a:lstStyle/>
          <a:p>
            <a:pPr>
              <a:spcAft>
                <a:spcPts val="700"/>
              </a:spcAft>
              <a:defRPr sz="1800"/>
            </a:pPr>
            <a:r>
              <a:t>• Selling Price IQR outliers: 16.</a:t>
            </a:r>
          </a:p>
          <a:p>
            <a:pPr>
              <a:spcAft>
                <a:spcPts val="700"/>
              </a:spcAft>
              <a:defRPr sz="1800"/>
            </a:pPr>
            <a:r>
              <a:t>• Present Price IQR outliers: 14.</a:t>
            </a:r>
          </a:p>
          <a:p>
            <a:pPr>
              <a:spcAft>
                <a:spcPts val="700"/>
              </a:spcAft>
              <a:defRPr sz="1800"/>
            </a:pPr>
            <a:r>
              <a:t>• Kms Driven IQR outliers: 8.</a:t>
            </a:r>
          </a:p>
          <a:p>
            <a:pPr>
              <a:spcAft>
                <a:spcPts val="700"/>
              </a:spcAft>
              <a:defRPr sz="1800"/>
            </a:pPr>
            <a:r>
              <a:t>• Outliers were identified but not automatically deleted.</a:t>
            </a:r>
          </a:p>
          <a:p>
            <a:pPr>
              <a:spcAft>
                <a:spcPts val="700"/>
              </a:spcAft>
              <a:defRPr sz="1800"/>
            </a:pPr>
            <a:r>
              <a:t>• High-value and high-mileage observations can be genuine market cases rather than data errors.</a:t>
            </a:r>
          </a:p>
          <a:p>
            <a:pPr>
              <a:spcAft>
                <a:spcPts val="700"/>
              </a:spcAft>
              <a:defRPr sz="1800"/>
            </a:pPr>
            <a:r>
              <a:t>• Mean and median are both retained in summaries to reduce the risk of misleading conclusions.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pPr>
            <a:r>
              <a:t>RESULTS — Final Insights &amp; Recommendations</a:t>
            </a:r>
          </a:p>
        </p:txBody>
      </p:sp>
      <p:sp>
        <p:nvSpPr>
          <p:cNvPr id="3" name="TextBox 2"/>
          <p:cNvSpPr txBox="1"/>
          <p:nvPr/>
        </p:nvSpPr>
        <p:spPr>
          <a:xfrm>
            <a:off x="685800" y="1234440"/>
            <a:ext cx="10698480" cy="2600712"/>
          </a:xfrm>
          <a:prstGeom prst="rect">
            <a:avLst/>
          </a:prstGeom>
          <a:noFill/>
        </p:spPr>
        <p:txBody>
          <a:bodyPr wrap="square">
            <a:spAutoFit/>
          </a:bodyPr>
          <a:lstStyle/>
          <a:p>
            <a:pPr>
              <a:spcAft>
                <a:spcPts val="700"/>
              </a:spcAft>
              <a:defRPr sz="1600"/>
            </a:pPr>
            <a:r>
              <a:rPr dirty="0"/>
              <a:t>• Pricing: Present Price is the strongest direct numerical benchmark for Selling Price.</a:t>
            </a:r>
          </a:p>
          <a:p>
            <a:pPr>
              <a:spcAft>
                <a:spcPts val="700"/>
              </a:spcAft>
              <a:defRPr sz="1600"/>
            </a:pPr>
            <a:r>
              <a:rPr dirty="0"/>
              <a:t>• Depreciation: vehicle age is associated with lower resale value, and resale retention declines as age increases.</a:t>
            </a:r>
          </a:p>
          <a:p>
            <a:pPr>
              <a:spcAft>
                <a:spcPts val="700"/>
              </a:spcAft>
              <a:defRPr sz="1600"/>
            </a:pPr>
            <a:r>
              <a:rPr dirty="0"/>
              <a:t>• Usage: kilometers driven has a weaker relationship with price than Present Price and Age.</a:t>
            </a:r>
          </a:p>
          <a:p>
            <a:pPr>
              <a:spcAft>
                <a:spcPts val="700"/>
              </a:spcAft>
              <a:defRPr sz="1600"/>
            </a:pPr>
            <a:r>
              <a:rPr dirty="0"/>
              <a:t>• Segmentation: fuel type, transmission and seller type show clear differences in price distributions.</a:t>
            </a:r>
          </a:p>
          <a:p>
            <a:pPr>
              <a:spcAft>
                <a:spcPts val="700"/>
              </a:spcAft>
              <a:defRPr sz="1600"/>
            </a:pPr>
            <a:r>
              <a:rPr dirty="0"/>
              <a:t>• Model effect: vehicle model remains important; compare listings within comparable models rather than relying only on market-wide averages.</a:t>
            </a:r>
          </a:p>
          <a:p>
            <a:pPr>
              <a:spcAft>
                <a:spcPts val="700"/>
              </a:spcAft>
              <a:defRPr sz="1600"/>
            </a:pPr>
            <a:r>
              <a:rPr dirty="0"/>
              <a:t>• For buyers: evaluate selling price against present price, age, mileage and comparable models.</a:t>
            </a:r>
          </a:p>
          <a:p>
            <a:pPr>
              <a:spcAft>
                <a:spcPts val="700"/>
              </a:spcAft>
              <a:defRPr sz="1600"/>
            </a:pPr>
            <a:r>
              <a:rPr dirty="0"/>
              <a:t>• For sellers/dealers: benchmark inventory against comparable vehicles and use age/mileage-adjusted pricing.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350258"/>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569</TotalTime>
  <Words>1266</Words>
  <Application>Microsoft Office PowerPoint</Application>
  <PresentationFormat>Widescreen</PresentationFormat>
  <Paragraphs>110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Trebuchet MS</vt:lpstr>
      <vt:lpstr>Wingdings</vt:lpstr>
      <vt:lpstr>Wingdings 3</vt:lpstr>
      <vt:lpstr>Facet</vt:lpstr>
      <vt:lpstr>Car Market Trends Analysis with Car Dekho Data</vt:lpstr>
      <vt:lpstr>PROBLEM  STATEMENT</vt:lpstr>
      <vt:lpstr>This project performs an end-to-end exploratory data analysis of Car Dekho used-car data. The analysis begins with understanding the dataset structure, variables, data types, missing values, duplicates, and data quality.  The data is then cleaned and validated, followed by feature engineering such as car age, depreciation amount, resale retention percentage, price gap, age bands, and mileage bands. Various statistical analyses and visualizations are performed to understand relationships between selling price and vehicle characteristics.  The project analyzes fuel type, seller type, transmission, ownership, vehicle age, kilometers driven, present price, and individual car models to identify pricing patterns. Correlation and outlier analysis are also performed to understand the major numerical drivers of selling price.  Finally, the analysis converts these findings into business insights and recommendations for used-car buyers, sellers, dealers, and automotive analysts.</vt:lpstr>
      <vt:lpstr>WHO ARE THE END USERS?</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Prasad Shetty</cp:lastModifiedBy>
  <cp:revision>74</cp:revision>
  <dcterms:created xsi:type="dcterms:W3CDTF">2021-07-11T13:13:15Z</dcterms:created>
  <dcterms:modified xsi:type="dcterms:W3CDTF">2026-09-03T13:07:55Z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